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61" r:id="rId2"/>
    <p:sldId id="258" r:id="rId3"/>
    <p:sldId id="260" r:id="rId4"/>
    <p:sldId id="263" r:id="rId5"/>
  </p:sldIdLst>
  <p:sldSz cx="12192000" cy="6858000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B43E10-ABCB-49D3-A687-97AC79E23DC4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0A5E4D-354A-4BD2-876E-D7E30A99D8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5095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0A5E4D-354A-4BD2-876E-D7E30A99D8D8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67938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미성년자 있을 시 보호자 동의 필요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0A5E4D-354A-4BD2-876E-D7E30A99D8D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90769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46A7F0-6A83-3BD8-7F03-DA12A2B3EC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852F6CF-2ECB-6122-04F7-23173D79AE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690F23-C85D-030D-F994-31F1282E6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C2C0D-D71F-481C-9632-711827E287E5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5F248D0-CCDC-2012-3A71-A2B4292DC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88AD6AE-ED3B-244D-B494-4609ACA12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15653-2259-45F8-B29E-002E4C4405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6794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6F6036-79CA-DE6C-F405-538CA284B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67B4D62-454C-B657-3832-408A7AC1C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78D4BE-B4AE-CF75-6CA4-2B2AED823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C2C0D-D71F-481C-9632-711827E287E5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74BEB9E-9019-F019-4188-3AFA524DD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2508FCB-1B44-8B4C-6A2E-3AFE6B9B9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15653-2259-45F8-B29E-002E4C4405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4189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C6D182-28B2-3092-300A-18D525611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8F6C9D-A1C0-F292-70C5-18AB24D05C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1136A8-A182-D72E-9084-69F754266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C2C0D-D71F-481C-9632-711827E287E5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8FA800-C088-B836-A176-DE530F62E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DD7A004-6129-0537-1F46-FBDB3945A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15653-2259-45F8-B29E-002E4C4405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0242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9DA8B6-2891-16E7-8FAC-41302E978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CE42628-B94E-8EAD-D345-EF0D587D8C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36472DE-5376-AEEB-FB1B-2C1035A023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5622A62-5179-D8FC-8814-E606F4835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C2C0D-D71F-481C-9632-711827E287E5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B169250-20E1-2E7A-35B9-B1E08F5B3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9508EE5-739D-16A3-DADF-F6179DB25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15653-2259-45F8-B29E-002E4C4405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1471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7BB9AD-3D19-F0C6-352B-B601DD467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B381B9F-8E85-B448-21F1-3FA2011803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A12D538-EEA2-D895-69EF-917BEB214E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2C79523-3EE0-D11B-FF7D-868BA81DD7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5B19DAA-9495-9F53-2A87-CD3D3FE9D2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88F041D-9A19-D4DB-2BF9-03CA9C08D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C2C0D-D71F-481C-9632-711827E287E5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5B9D856-D49E-23F9-5EB3-AA4AEB356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6A3716D-F5BF-847D-9652-176766188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15653-2259-45F8-B29E-002E4C4405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19944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A664EE-4045-49D8-2DF0-DD25CC595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7606900-37CC-F53D-ED6F-FADD6A67E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C2C0D-D71F-481C-9632-711827E287E5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3D355A3-0244-7A9E-868D-558DC19E5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168B294-BE1C-08D0-3CCC-5CF94BD45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15653-2259-45F8-B29E-002E4C4405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28698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6A9FC90-18A2-2075-5C65-4768AB8D7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C2C0D-D71F-481C-9632-711827E287E5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0A6BBA3-A3A2-F45F-3D8C-8BC0E963E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E33D233-4C2E-B552-7CEE-F0D6B3DF4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15653-2259-45F8-B29E-002E4C4405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1575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5C6DC3-AC37-FC59-7909-980D6073B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E9905CF-0320-5216-70D5-E986C41238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CD665AF-9131-2D1F-1D8E-2B8D0FA0E6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6792CB6-13E8-B111-0C6E-B916EE568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C2C0D-D71F-481C-9632-711827E287E5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947EEFA-EA3C-183F-F96D-79FF31612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6E69BCF-6C51-CCE2-E3EB-23B017F62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15653-2259-45F8-B29E-002E4C4405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02409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E83056-0BE0-881E-C538-AB30E6F98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6B6350A-F228-8703-49B5-0A7B45116A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382D16E-D42B-C826-6DA5-D6D740B7DF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128623E-4FF9-3DF9-2C50-F881C3F3D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C2C0D-D71F-481C-9632-711827E287E5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B1839A0-B70E-5A19-012C-FF0EE0A03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6DE2A83-59CE-4633-E0EF-8C1D96EE6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15653-2259-45F8-B29E-002E4C4405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1220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4B855A-9099-B681-C7B8-744E5DCBF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8F8D7CC-71ED-724D-56D7-227E0CBD4D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662D80-8CDB-3458-F11D-78F9942D5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C2C0D-D71F-481C-9632-711827E287E5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33998A-D477-5D86-568E-325F84D42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0B6B5FD-B7F3-138D-5A78-9D5029839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15653-2259-45F8-B29E-002E4C4405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8461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247AF53-254F-1BF0-0ABA-5E370FEE9D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4C5F286-9CB9-8398-CB70-AE594BF450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A977751-10DB-201B-688A-821F31E02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C2C0D-D71F-481C-9632-711827E287E5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3FA07EE-84B5-E3BD-29BF-6B549369C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9C341A-39C3-AE50-377B-2810F499B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15653-2259-45F8-B29E-002E4C4405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1405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2A56E29-FA56-6F6B-ACA3-6D33FEF13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46A56A5-BE02-9360-5E46-EED0214963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F2BE073-3653-EE85-CDCC-DC6969D636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0C2C0D-D71F-481C-9632-711827E287E5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E1F0FB-06EB-8F4C-5671-5ECAD88AFB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AC3291-D5F6-ED73-B0DC-0964DDBF2E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415653-2259-45F8-B29E-002E4C4405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5982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daewooenc.com/business/project-map" TargetMode="External"/><Relationship Id="rId3" Type="http://schemas.openxmlformats.org/officeDocument/2006/relationships/hyperlink" Target="https://www.daewooenc.com/company/management/contribution" TargetMode="External"/><Relationship Id="rId7" Type="http://schemas.openxmlformats.org/officeDocument/2006/relationships/hyperlink" Target="https://www.daewooenc.com/business/civil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taeilcnt.co.kr/home/company/sub_04.html" TargetMode="External"/><Relationship Id="rId11" Type="http://schemas.openxmlformats.org/officeDocument/2006/relationships/hyperlink" Target="https://www.daewooenc.com/pr/emblem" TargetMode="External"/><Relationship Id="rId5" Type="http://schemas.openxmlformats.org/officeDocument/2006/relationships/hyperlink" Target="http://www.taeilcnt.co.kr/home/company/sub_05.html" TargetMode="External"/><Relationship Id="rId10" Type="http://schemas.openxmlformats.org/officeDocument/2006/relationships/hyperlink" Target="https://recruit.posco.com/h22a01-front/H22N1008.html" TargetMode="External"/><Relationship Id="rId4" Type="http://schemas.openxmlformats.org/officeDocument/2006/relationships/hyperlink" Target="https://www.daewooenc.com/company/info/history" TargetMode="External"/><Relationship Id="rId9" Type="http://schemas.openxmlformats.org/officeDocument/2006/relationships/hyperlink" Target="https://www.posco.co.kr/homepage/docs/kor7/jsp/prcenter/mediacenter.jsp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BC3644-2DC8-C868-647E-7188F0BF2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65643"/>
            <a:ext cx="10515600" cy="1325563"/>
          </a:xfrm>
        </p:spPr>
        <p:txBody>
          <a:bodyPr/>
          <a:lstStyle/>
          <a:p>
            <a:pPr algn="ctr"/>
            <a:r>
              <a:rPr lang="en-US" altLang="ko-KR" dirty="0"/>
              <a:t> AI </a:t>
            </a:r>
            <a:r>
              <a:rPr lang="ko-KR" altLang="en-US" dirty="0"/>
              <a:t>활용 홈페이지 리뉴얼 경진대회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1B4E0FF-C20A-E774-DA90-DBA080BA3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792071"/>
            <a:ext cx="10515600" cy="2384892"/>
          </a:xfrm>
        </p:spPr>
        <p:txBody>
          <a:bodyPr/>
          <a:lstStyle/>
          <a:p>
            <a:pPr marL="0" indent="0" algn="ctr">
              <a:buNone/>
            </a:pPr>
            <a:r>
              <a:rPr lang="en-US" altLang="ko-KR" dirty="0"/>
              <a:t>- </a:t>
            </a:r>
            <a:r>
              <a:rPr lang="ko-KR" altLang="en-US" dirty="0" err="1"/>
              <a:t>태일씨앤티</a:t>
            </a:r>
            <a:r>
              <a:rPr lang="ko-KR" altLang="en-US" dirty="0"/>
              <a:t> </a:t>
            </a:r>
            <a:r>
              <a:rPr lang="en-US" altLang="ko-KR" dirty="0"/>
              <a:t>-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577268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" name="연결선: 꺾임 46">
            <a:extLst>
              <a:ext uri="{FF2B5EF4-FFF2-40B4-BE49-F238E27FC236}">
                <a16:creationId xmlns:a16="http://schemas.microsoft.com/office/drawing/2014/main" id="{A00564B6-B93B-02F6-12BA-C5FB603F3A54}"/>
              </a:ext>
            </a:extLst>
          </p:cNvPr>
          <p:cNvCxnSpPr>
            <a:stCxn id="8" idx="2"/>
            <a:endCxn id="10" idx="0"/>
          </p:cNvCxnSpPr>
          <p:nvPr/>
        </p:nvCxnSpPr>
        <p:spPr>
          <a:xfrm rot="5400000">
            <a:off x="4745521" y="209380"/>
            <a:ext cx="603924" cy="2097035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0F0DEB88-F1F9-3A53-A1FD-140517D89B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9133" y="417655"/>
            <a:ext cx="1993734" cy="538280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2C805B82-FCE9-A71D-E297-593EC34E9D65}"/>
              </a:ext>
            </a:extLst>
          </p:cNvPr>
          <p:cNvSpPr/>
          <p:nvPr/>
        </p:nvSpPr>
        <p:spPr>
          <a:xfrm>
            <a:off x="1181929" y="1559859"/>
            <a:ext cx="144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회사소개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E8E9718-1C4E-8041-EE56-7BEBB8C21A4C}"/>
              </a:ext>
            </a:extLst>
          </p:cNvPr>
          <p:cNvSpPr/>
          <p:nvPr/>
        </p:nvSpPr>
        <p:spPr>
          <a:xfrm>
            <a:off x="3278965" y="1559859"/>
            <a:ext cx="144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사업실적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0D1572B-AF9E-FDD6-9CB8-5BAE95FE66A7}"/>
              </a:ext>
            </a:extLst>
          </p:cNvPr>
          <p:cNvSpPr/>
          <p:nvPr/>
        </p:nvSpPr>
        <p:spPr>
          <a:xfrm>
            <a:off x="5376001" y="1559859"/>
            <a:ext cx="144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홍보센터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2C5094F-6E1C-E88C-4C13-6E9124BF8500}"/>
              </a:ext>
            </a:extLst>
          </p:cNvPr>
          <p:cNvSpPr/>
          <p:nvPr/>
        </p:nvSpPr>
        <p:spPr>
          <a:xfrm>
            <a:off x="7473037" y="1559859"/>
            <a:ext cx="144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ESG</a:t>
            </a:r>
            <a:r>
              <a:rPr lang="ko-KR" altLang="en-US" sz="1200" dirty="0">
                <a:solidFill>
                  <a:schemeClr val="tx1"/>
                </a:solidFill>
              </a:rPr>
              <a:t>경영</a:t>
            </a:r>
          </a:p>
        </p:txBody>
      </p:sp>
      <p:sp>
        <p:nvSpPr>
          <p:cNvPr id="13" name="직사각형 12">
            <a:hlinkClick r:id="rId3"/>
            <a:extLst>
              <a:ext uri="{FF2B5EF4-FFF2-40B4-BE49-F238E27FC236}">
                <a16:creationId xmlns:a16="http://schemas.microsoft.com/office/drawing/2014/main" id="{6F6B9B3E-80C9-3EF1-D79C-6CA30884263D}"/>
              </a:ext>
            </a:extLst>
          </p:cNvPr>
          <p:cNvSpPr/>
          <p:nvPr/>
        </p:nvSpPr>
        <p:spPr>
          <a:xfrm>
            <a:off x="9570072" y="1559859"/>
            <a:ext cx="144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인재채용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A009BEF-6F38-7644-B22A-06F6A407CB03}"/>
              </a:ext>
            </a:extLst>
          </p:cNvPr>
          <p:cNvSpPr/>
          <p:nvPr/>
        </p:nvSpPr>
        <p:spPr>
          <a:xfrm>
            <a:off x="1181929" y="2098200"/>
            <a:ext cx="1440000" cy="360000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인사말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19FB100-2112-776F-0AB1-5C809D9FE3EB}"/>
              </a:ext>
            </a:extLst>
          </p:cNvPr>
          <p:cNvSpPr/>
          <p:nvPr/>
        </p:nvSpPr>
        <p:spPr>
          <a:xfrm>
            <a:off x="1181929" y="2636541"/>
            <a:ext cx="1440000" cy="360000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경영이념</a:t>
            </a:r>
          </a:p>
        </p:txBody>
      </p:sp>
      <p:sp>
        <p:nvSpPr>
          <p:cNvPr id="17" name="직사각형 16">
            <a:hlinkClick r:id="rId4"/>
            <a:extLst>
              <a:ext uri="{FF2B5EF4-FFF2-40B4-BE49-F238E27FC236}">
                <a16:creationId xmlns:a16="http://schemas.microsoft.com/office/drawing/2014/main" id="{F3778640-FA11-3319-DC8F-2CBBB28D110B}"/>
              </a:ext>
            </a:extLst>
          </p:cNvPr>
          <p:cNvSpPr/>
          <p:nvPr/>
        </p:nvSpPr>
        <p:spPr>
          <a:xfrm>
            <a:off x="1181929" y="3174882"/>
            <a:ext cx="1440000" cy="36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회사연혁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8" name="직사각형 17">
            <a:hlinkClick r:id="rId5"/>
            <a:extLst>
              <a:ext uri="{FF2B5EF4-FFF2-40B4-BE49-F238E27FC236}">
                <a16:creationId xmlns:a16="http://schemas.microsoft.com/office/drawing/2014/main" id="{8D2CE22A-815D-4745-2A76-A90354E5305B}"/>
              </a:ext>
            </a:extLst>
          </p:cNvPr>
          <p:cNvSpPr/>
          <p:nvPr/>
        </p:nvSpPr>
        <p:spPr>
          <a:xfrm>
            <a:off x="1181929" y="3713223"/>
            <a:ext cx="1440000" cy="36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주거래 시공사</a:t>
            </a:r>
          </a:p>
        </p:txBody>
      </p:sp>
      <p:sp>
        <p:nvSpPr>
          <p:cNvPr id="19" name="직사각형 18">
            <a:hlinkClick r:id="rId6"/>
            <a:extLst>
              <a:ext uri="{FF2B5EF4-FFF2-40B4-BE49-F238E27FC236}">
                <a16:creationId xmlns:a16="http://schemas.microsoft.com/office/drawing/2014/main" id="{287A9253-BABF-FB5D-D0C8-836F316F23B3}"/>
              </a:ext>
            </a:extLst>
          </p:cNvPr>
          <p:cNvSpPr/>
          <p:nvPr/>
        </p:nvSpPr>
        <p:spPr>
          <a:xfrm>
            <a:off x="1181929" y="4251564"/>
            <a:ext cx="1440000" cy="36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업</a:t>
            </a:r>
            <a:r>
              <a:rPr lang="en-US" altLang="ko-KR" sz="1200" dirty="0">
                <a:solidFill>
                  <a:schemeClr val="tx1"/>
                </a:solidFill>
              </a:rPr>
              <a:t>·</a:t>
            </a:r>
            <a:r>
              <a:rPr lang="ko-KR" altLang="en-US" sz="1200" dirty="0">
                <a:solidFill>
                  <a:schemeClr val="tx1"/>
                </a:solidFill>
              </a:rPr>
              <a:t>면허</a:t>
            </a:r>
            <a:r>
              <a:rPr lang="en-US" altLang="ko-KR" sz="1200" dirty="0">
                <a:solidFill>
                  <a:schemeClr val="tx1"/>
                </a:solidFill>
              </a:rPr>
              <a:t>/</a:t>
            </a:r>
            <a:r>
              <a:rPr lang="ko-KR" altLang="en-US" sz="1200" dirty="0">
                <a:solidFill>
                  <a:schemeClr val="tx1"/>
                </a:solidFill>
              </a:rPr>
              <a:t>인증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01B0D5BE-0B79-3C33-4F66-5391421996B3}"/>
              </a:ext>
            </a:extLst>
          </p:cNvPr>
          <p:cNvSpPr/>
          <p:nvPr/>
        </p:nvSpPr>
        <p:spPr>
          <a:xfrm>
            <a:off x="1181929" y="4789905"/>
            <a:ext cx="1440000" cy="360000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찾아오시는 길</a:t>
            </a:r>
          </a:p>
        </p:txBody>
      </p:sp>
      <p:sp>
        <p:nvSpPr>
          <p:cNvPr id="24" name="직사각형 23">
            <a:hlinkClick r:id="rId7"/>
            <a:extLst>
              <a:ext uri="{FF2B5EF4-FFF2-40B4-BE49-F238E27FC236}">
                <a16:creationId xmlns:a16="http://schemas.microsoft.com/office/drawing/2014/main" id="{0AB8D7B8-15D2-3E94-0257-9121565FCE3F}"/>
              </a:ext>
            </a:extLst>
          </p:cNvPr>
          <p:cNvSpPr/>
          <p:nvPr/>
        </p:nvSpPr>
        <p:spPr>
          <a:xfrm>
            <a:off x="3278965" y="2098200"/>
            <a:ext cx="1440000" cy="36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공사수주 현황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71BD4974-910E-E0A0-C765-B9B3E5F81BA2}"/>
              </a:ext>
            </a:extLst>
          </p:cNvPr>
          <p:cNvSpPr/>
          <p:nvPr/>
        </p:nvSpPr>
        <p:spPr>
          <a:xfrm>
            <a:off x="3565835" y="2636541"/>
            <a:ext cx="1440000" cy="36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주택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698BE043-487A-6612-67D4-D6323673F80A}"/>
              </a:ext>
            </a:extLst>
          </p:cNvPr>
          <p:cNvSpPr/>
          <p:nvPr/>
        </p:nvSpPr>
        <p:spPr>
          <a:xfrm>
            <a:off x="3565835" y="3174882"/>
            <a:ext cx="1440000" cy="36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업무시설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175DF90-9AC5-A69E-A348-104153BD3269}"/>
              </a:ext>
            </a:extLst>
          </p:cNvPr>
          <p:cNvSpPr/>
          <p:nvPr/>
        </p:nvSpPr>
        <p:spPr>
          <a:xfrm>
            <a:off x="3565835" y="3713223"/>
            <a:ext cx="1440000" cy="36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교육</a:t>
            </a:r>
            <a:r>
              <a:rPr lang="en-US" altLang="ko-KR" sz="1200" dirty="0">
                <a:solidFill>
                  <a:schemeClr val="tx1"/>
                </a:solidFill>
              </a:rPr>
              <a:t>/</a:t>
            </a:r>
            <a:r>
              <a:rPr lang="ko-KR" altLang="en-US" sz="1200" dirty="0">
                <a:solidFill>
                  <a:schemeClr val="tx1"/>
                </a:solidFill>
              </a:rPr>
              <a:t>의료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16E270C-1E48-E981-A70A-3FED8AF19B26}"/>
              </a:ext>
            </a:extLst>
          </p:cNvPr>
          <p:cNvSpPr/>
          <p:nvPr/>
        </p:nvSpPr>
        <p:spPr>
          <a:xfrm>
            <a:off x="3565835" y="4251564"/>
            <a:ext cx="1440000" cy="36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플랜트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6C2A630C-F392-CD8B-BE97-C32097163EFC}"/>
              </a:ext>
            </a:extLst>
          </p:cNvPr>
          <p:cNvSpPr/>
          <p:nvPr/>
        </p:nvSpPr>
        <p:spPr>
          <a:xfrm>
            <a:off x="3565835" y="4789905"/>
            <a:ext cx="1440000" cy="36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초고층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047A1232-2583-14AA-96C2-F87F91719764}"/>
              </a:ext>
            </a:extLst>
          </p:cNvPr>
          <p:cNvSpPr/>
          <p:nvPr/>
        </p:nvSpPr>
        <p:spPr>
          <a:xfrm>
            <a:off x="3565835" y="5328246"/>
            <a:ext cx="1440000" cy="36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판매시설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72446E64-E5D2-D781-A5A2-483B938A9237}"/>
              </a:ext>
            </a:extLst>
          </p:cNvPr>
          <p:cNvSpPr/>
          <p:nvPr/>
        </p:nvSpPr>
        <p:spPr>
          <a:xfrm>
            <a:off x="3565835" y="5866587"/>
            <a:ext cx="1440000" cy="36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기타</a:t>
            </a:r>
          </a:p>
        </p:txBody>
      </p:sp>
      <p:sp>
        <p:nvSpPr>
          <p:cNvPr id="32" name="직사각형 31">
            <a:hlinkClick r:id="rId8"/>
            <a:extLst>
              <a:ext uri="{FF2B5EF4-FFF2-40B4-BE49-F238E27FC236}">
                <a16:creationId xmlns:a16="http://schemas.microsoft.com/office/drawing/2014/main" id="{800B0A12-534D-014D-7527-16FE7EE2CE92}"/>
              </a:ext>
            </a:extLst>
          </p:cNvPr>
          <p:cNvSpPr/>
          <p:nvPr/>
        </p:nvSpPr>
        <p:spPr>
          <a:xfrm>
            <a:off x="3278965" y="6404928"/>
            <a:ext cx="1440000" cy="36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Project Map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3" name="직사각형 32">
            <a:hlinkClick r:id="rId9"/>
            <a:extLst>
              <a:ext uri="{FF2B5EF4-FFF2-40B4-BE49-F238E27FC236}">
                <a16:creationId xmlns:a16="http://schemas.microsoft.com/office/drawing/2014/main" id="{ECEA4F74-7CB3-94CE-6BF4-D122E46A0561}"/>
              </a:ext>
            </a:extLst>
          </p:cNvPr>
          <p:cNvSpPr/>
          <p:nvPr/>
        </p:nvSpPr>
        <p:spPr>
          <a:xfrm>
            <a:off x="5376001" y="2098200"/>
            <a:ext cx="1440000" cy="36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News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5" name="직사각형 34">
            <a:hlinkClick r:id="rId10"/>
            <a:extLst>
              <a:ext uri="{FF2B5EF4-FFF2-40B4-BE49-F238E27FC236}">
                <a16:creationId xmlns:a16="http://schemas.microsoft.com/office/drawing/2014/main" id="{2864B3D3-D1F1-0B5D-E158-016774591B6F}"/>
              </a:ext>
            </a:extLst>
          </p:cNvPr>
          <p:cNvSpPr/>
          <p:nvPr/>
        </p:nvSpPr>
        <p:spPr>
          <a:xfrm>
            <a:off x="9570071" y="2098200"/>
            <a:ext cx="1440000" cy="36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직무소개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A319DFE2-28FA-3A7A-F94C-AFFC1871C155}"/>
              </a:ext>
            </a:extLst>
          </p:cNvPr>
          <p:cNvSpPr/>
          <p:nvPr/>
        </p:nvSpPr>
        <p:spPr>
          <a:xfrm>
            <a:off x="9570071" y="2636541"/>
            <a:ext cx="1440000" cy="360000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인사제도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8EF859B5-C85E-8112-C657-BC702BA1777F}"/>
              </a:ext>
            </a:extLst>
          </p:cNvPr>
          <p:cNvSpPr/>
          <p:nvPr/>
        </p:nvSpPr>
        <p:spPr>
          <a:xfrm>
            <a:off x="9570071" y="3174882"/>
            <a:ext cx="1440000" cy="360000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채용가이드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F69131DF-230A-E716-CFBD-13DEDC48E8D6}"/>
              </a:ext>
            </a:extLst>
          </p:cNvPr>
          <p:cNvSpPr/>
          <p:nvPr/>
        </p:nvSpPr>
        <p:spPr>
          <a:xfrm>
            <a:off x="9570071" y="3713223"/>
            <a:ext cx="1440000" cy="360000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복리후생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5CA9114A-BCD0-1B91-D3DA-2FF94F8D1E2A}"/>
              </a:ext>
            </a:extLst>
          </p:cNvPr>
          <p:cNvSpPr/>
          <p:nvPr/>
        </p:nvSpPr>
        <p:spPr>
          <a:xfrm>
            <a:off x="9570071" y="4251564"/>
            <a:ext cx="1440000" cy="360000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채용</a:t>
            </a:r>
            <a:r>
              <a:rPr lang="en-US" altLang="ko-KR" sz="1200" dirty="0">
                <a:solidFill>
                  <a:schemeClr val="tx1"/>
                </a:solidFill>
              </a:rPr>
              <a:t>FAQ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41" name="연결선: 꺾임 40">
            <a:extLst>
              <a:ext uri="{FF2B5EF4-FFF2-40B4-BE49-F238E27FC236}">
                <a16:creationId xmlns:a16="http://schemas.microsoft.com/office/drawing/2014/main" id="{72FE6B78-08DC-4A7D-F249-B0F1D37D44C8}"/>
              </a:ext>
            </a:extLst>
          </p:cNvPr>
          <p:cNvCxnSpPr>
            <a:stCxn id="8" idx="2"/>
            <a:endCxn id="9" idx="0"/>
          </p:cNvCxnSpPr>
          <p:nvPr/>
        </p:nvCxnSpPr>
        <p:spPr>
          <a:xfrm rot="5400000">
            <a:off x="3697003" y="-839138"/>
            <a:ext cx="603924" cy="4194071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연결선: 꺾임 42">
            <a:extLst>
              <a:ext uri="{FF2B5EF4-FFF2-40B4-BE49-F238E27FC236}">
                <a16:creationId xmlns:a16="http://schemas.microsoft.com/office/drawing/2014/main" id="{F4CE5BCE-5F2D-380E-5710-2A30CDD6C040}"/>
              </a:ext>
            </a:extLst>
          </p:cNvPr>
          <p:cNvCxnSpPr>
            <a:stCxn id="8" idx="2"/>
            <a:endCxn id="12" idx="0"/>
          </p:cNvCxnSpPr>
          <p:nvPr/>
        </p:nvCxnSpPr>
        <p:spPr>
          <a:xfrm rot="16200000" flipH="1">
            <a:off x="6842556" y="209378"/>
            <a:ext cx="603924" cy="2097037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연결선: 꺾임 44">
            <a:extLst>
              <a:ext uri="{FF2B5EF4-FFF2-40B4-BE49-F238E27FC236}">
                <a16:creationId xmlns:a16="http://schemas.microsoft.com/office/drawing/2014/main" id="{D4644808-894C-F10D-0706-C312C7F21D95}"/>
              </a:ext>
            </a:extLst>
          </p:cNvPr>
          <p:cNvCxnSpPr>
            <a:stCxn id="8" idx="2"/>
            <a:endCxn id="11" idx="0"/>
          </p:cNvCxnSpPr>
          <p:nvPr/>
        </p:nvCxnSpPr>
        <p:spPr>
          <a:xfrm rot="16200000" flipH="1">
            <a:off x="5794038" y="1257896"/>
            <a:ext cx="603924" cy="1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직사각형 49">
            <a:hlinkClick r:id="rId11"/>
            <a:extLst>
              <a:ext uri="{FF2B5EF4-FFF2-40B4-BE49-F238E27FC236}">
                <a16:creationId xmlns:a16="http://schemas.microsoft.com/office/drawing/2014/main" id="{8A591CE6-5D5F-3A2C-60C2-B1BB996133AA}"/>
              </a:ext>
            </a:extLst>
          </p:cNvPr>
          <p:cNvSpPr/>
          <p:nvPr/>
        </p:nvSpPr>
        <p:spPr>
          <a:xfrm>
            <a:off x="5375999" y="2636541"/>
            <a:ext cx="1440000" cy="36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유튜브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437BEC8-EFF2-D619-0F69-52CE18745DB6}"/>
              </a:ext>
            </a:extLst>
          </p:cNvPr>
          <p:cNvSpPr txBox="1"/>
          <p:nvPr/>
        </p:nvSpPr>
        <p:spPr>
          <a:xfrm>
            <a:off x="7207624" y="6338047"/>
            <a:ext cx="23583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□ 필수 구조 </a:t>
            </a:r>
            <a:r>
              <a:rPr lang="ko-KR" altLang="en-US" sz="1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■ </a:t>
            </a:r>
            <a:r>
              <a:rPr lang="ko-KR" altLang="en-US" sz="1200" dirty="0">
                <a:solidFill>
                  <a:schemeClr val="accent2"/>
                </a:solidFill>
              </a:rPr>
              <a:t>■</a:t>
            </a:r>
            <a:r>
              <a:rPr lang="ko-KR" altLang="en-US" sz="1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ko-KR" altLang="en-US" sz="1200" dirty="0"/>
              <a:t>사이트 참고</a:t>
            </a:r>
          </a:p>
        </p:txBody>
      </p: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79079FF7-09ED-0F83-BA31-8C626A9A4B4C}"/>
              </a:ext>
            </a:extLst>
          </p:cNvPr>
          <p:cNvCxnSpPr>
            <a:cxnSpLocks/>
          </p:cNvCxnSpPr>
          <p:nvPr/>
        </p:nvCxnSpPr>
        <p:spPr>
          <a:xfrm>
            <a:off x="386894" y="726142"/>
            <a:ext cx="17736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C2BFCB15-5C97-B917-8B6A-B5633F14B203}"/>
              </a:ext>
            </a:extLst>
          </p:cNvPr>
          <p:cNvSpPr txBox="1"/>
          <p:nvPr/>
        </p:nvSpPr>
        <p:spPr>
          <a:xfrm>
            <a:off x="386894" y="386218"/>
            <a:ext cx="116891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dirty="0"/>
              <a:t>1.</a:t>
            </a:r>
            <a:r>
              <a:rPr lang="ko-KR" altLang="en-US" sz="1500" dirty="0"/>
              <a:t>메뉴 구조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9DC25A6-D58F-F7C1-EED8-85C180B1EB11}"/>
              </a:ext>
            </a:extLst>
          </p:cNvPr>
          <p:cNvSpPr/>
          <p:nvPr/>
        </p:nvSpPr>
        <p:spPr>
          <a:xfrm>
            <a:off x="8517987" y="506765"/>
            <a:ext cx="144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관리자</a:t>
            </a:r>
          </a:p>
        </p:txBody>
      </p:sp>
      <p:cxnSp>
        <p:nvCxnSpPr>
          <p:cNvPr id="34" name="연결선: 꺾임 33">
            <a:extLst>
              <a:ext uri="{FF2B5EF4-FFF2-40B4-BE49-F238E27FC236}">
                <a16:creationId xmlns:a16="http://schemas.microsoft.com/office/drawing/2014/main" id="{09FE6192-3AF3-D453-1DDF-2834AC3B4B3A}"/>
              </a:ext>
            </a:extLst>
          </p:cNvPr>
          <p:cNvCxnSpPr>
            <a:stCxn id="8" idx="2"/>
            <a:endCxn id="13" idx="0"/>
          </p:cNvCxnSpPr>
          <p:nvPr/>
        </p:nvCxnSpPr>
        <p:spPr>
          <a:xfrm rot="16200000" flipH="1">
            <a:off x="7891074" y="-839139"/>
            <a:ext cx="603924" cy="419407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8DEF2422-7761-0777-0D0B-9042F91BBBE1}"/>
              </a:ext>
            </a:extLst>
          </p:cNvPr>
          <p:cNvCxnSpPr>
            <a:stCxn id="8" idx="3"/>
            <a:endCxn id="4" idx="1"/>
          </p:cNvCxnSpPr>
          <p:nvPr/>
        </p:nvCxnSpPr>
        <p:spPr>
          <a:xfrm flipV="1">
            <a:off x="7092867" y="686765"/>
            <a:ext cx="1425120" cy="3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38129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1B04D-EEC0-CF40-081A-07F7B6DD0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E27DFD7A-1628-5365-2763-012ACAAD3523}"/>
              </a:ext>
            </a:extLst>
          </p:cNvPr>
          <p:cNvCxnSpPr>
            <a:cxnSpLocks/>
          </p:cNvCxnSpPr>
          <p:nvPr/>
        </p:nvCxnSpPr>
        <p:spPr>
          <a:xfrm>
            <a:off x="386894" y="726142"/>
            <a:ext cx="17736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B807F92F-AFDF-F149-ADA8-438E33740B4D}"/>
              </a:ext>
            </a:extLst>
          </p:cNvPr>
          <p:cNvSpPr txBox="1"/>
          <p:nvPr/>
        </p:nvSpPr>
        <p:spPr>
          <a:xfrm>
            <a:off x="386894" y="386218"/>
            <a:ext cx="129394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dirty="0"/>
              <a:t>2.</a:t>
            </a:r>
            <a:r>
              <a:rPr lang="ko-KR" altLang="en-US" sz="1500" dirty="0"/>
              <a:t>가이드라인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7C68B499-2C90-7640-6EAA-6BE26BCD10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6405129"/>
              </p:ext>
            </p:extLst>
          </p:nvPr>
        </p:nvGraphicFramePr>
        <p:xfrm>
          <a:off x="5411037" y="3142946"/>
          <a:ext cx="5158352" cy="15240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013846">
                  <a:extLst>
                    <a:ext uri="{9D8B030D-6E8A-4147-A177-3AD203B41FA5}">
                      <a16:colId xmlns:a16="http://schemas.microsoft.com/office/drawing/2014/main" val="2265776370"/>
                    </a:ext>
                  </a:extLst>
                </a:gridCol>
                <a:gridCol w="3144506">
                  <a:extLst>
                    <a:ext uri="{9D8B030D-6E8A-4147-A177-3AD203B41FA5}">
                      <a16:colId xmlns:a16="http://schemas.microsoft.com/office/drawing/2014/main" val="3492917412"/>
                    </a:ext>
                  </a:extLst>
                </a:gridCol>
              </a:tblGrid>
              <a:tr h="2738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 </a:t>
                      </a:r>
                      <a:r>
                        <a:rPr lang="ko-KR" altLang="en-US" sz="1400" dirty="0"/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구성요소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0136190"/>
                  </a:ext>
                </a:extLst>
              </a:tr>
              <a:tr h="27385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운영방식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정적 호스팅 예정</a:t>
                      </a:r>
                      <a:endParaRPr lang="en-US" altLang="ko-K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1205731"/>
                  </a:ext>
                </a:extLst>
              </a:tr>
              <a:tr h="2738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Language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JAVASCRIPT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0935118"/>
                  </a:ext>
                </a:extLst>
              </a:tr>
              <a:tr h="2738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Runtime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Node.js (22</a:t>
                      </a:r>
                      <a:r>
                        <a:rPr lang="ko-KR" altLang="en-US" sz="1200" dirty="0"/>
                        <a:t>버전 </a:t>
                      </a:r>
                      <a:r>
                        <a:rPr lang="en-US" altLang="ko-KR" sz="1200" dirty="0"/>
                        <a:t>LTS)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9662822"/>
                  </a:ext>
                </a:extLst>
              </a:tr>
              <a:tr h="2738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Framework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React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983433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348DD79-A032-82D7-765D-6EEAFAA1E979}"/>
              </a:ext>
            </a:extLst>
          </p:cNvPr>
          <p:cNvSpPr txBox="1"/>
          <p:nvPr/>
        </p:nvSpPr>
        <p:spPr>
          <a:xfrm>
            <a:off x="834424" y="977970"/>
            <a:ext cx="4265783" cy="50860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US" altLang="ko-KR" sz="1400" b="1" dirty="0"/>
              <a:t>1. </a:t>
            </a:r>
            <a:r>
              <a:rPr lang="ko-KR" altLang="en-US" sz="1400" b="1" dirty="0"/>
              <a:t>프로젝트 개요</a:t>
            </a:r>
            <a:endParaRPr lang="en-US" altLang="ko-KR" sz="1400" b="1" dirty="0"/>
          </a:p>
          <a:p>
            <a:pPr>
              <a:spcAft>
                <a:spcPts val="300"/>
              </a:spcAft>
            </a:pPr>
            <a:r>
              <a:rPr lang="en-US" altLang="ko-KR" sz="1200" dirty="0"/>
              <a:t>    a. </a:t>
            </a:r>
            <a:r>
              <a:rPr lang="ko-KR" altLang="en-US" sz="1200" dirty="0"/>
              <a:t>프로젝트 명</a:t>
            </a:r>
            <a:r>
              <a:rPr lang="en-US" altLang="ko-KR" sz="1200" dirty="0"/>
              <a:t>: </a:t>
            </a:r>
            <a:r>
              <a:rPr lang="ko-KR" altLang="en-US" sz="1200" dirty="0" err="1"/>
              <a:t>태일씨앤티</a:t>
            </a:r>
            <a:r>
              <a:rPr lang="ko-KR" altLang="en-US" sz="1200" dirty="0"/>
              <a:t> 공식 홈페이지 리뉴얼</a:t>
            </a:r>
            <a:endParaRPr lang="en-US" altLang="ko-KR" sz="1200" dirty="0"/>
          </a:p>
          <a:p>
            <a:pPr>
              <a:spcAft>
                <a:spcPts val="300"/>
              </a:spcAft>
            </a:pPr>
            <a:r>
              <a:rPr lang="en-US" altLang="ko-KR" sz="1200" dirty="0"/>
              <a:t>    b. </a:t>
            </a:r>
            <a:r>
              <a:rPr lang="ko-KR" altLang="en-US" sz="1200" dirty="0"/>
              <a:t>추진 배경 및 목적</a:t>
            </a:r>
            <a:r>
              <a:rPr lang="en-US" altLang="ko-KR" sz="1200" dirty="0"/>
              <a:t>: </a:t>
            </a:r>
            <a:r>
              <a:rPr lang="ko-KR" altLang="en-US" sz="1200" dirty="0"/>
              <a:t>노후화된 </a:t>
            </a:r>
            <a:r>
              <a:rPr lang="en-US" altLang="ko-KR" sz="1200" dirty="0"/>
              <a:t>UI </a:t>
            </a:r>
            <a:r>
              <a:rPr lang="ko-KR" altLang="en-US" sz="1200" dirty="0"/>
              <a:t>개선</a:t>
            </a:r>
            <a:endParaRPr lang="en-US" altLang="ko-KR" sz="1200" dirty="0"/>
          </a:p>
          <a:p>
            <a:pPr>
              <a:spcAft>
                <a:spcPts val="300"/>
              </a:spcAft>
            </a:pPr>
            <a:r>
              <a:rPr lang="en-US" altLang="ko-KR" sz="1200" dirty="0"/>
              <a:t>    c. </a:t>
            </a:r>
            <a:r>
              <a:rPr lang="ko-KR" altLang="en-US" sz="1200" dirty="0"/>
              <a:t>주요 타겟</a:t>
            </a:r>
            <a:r>
              <a:rPr lang="en-US" altLang="ko-KR" sz="1200" dirty="0"/>
              <a:t>: </a:t>
            </a:r>
            <a:r>
              <a:rPr lang="ko-KR" altLang="en-US" sz="1200" dirty="0"/>
              <a:t>외부</a:t>
            </a:r>
            <a:r>
              <a:rPr lang="en-US" altLang="ko-KR" sz="1200" dirty="0"/>
              <a:t> </a:t>
            </a:r>
            <a:r>
              <a:rPr lang="ko-KR" altLang="en-US" sz="1200" dirty="0"/>
              <a:t>인사 및 </a:t>
            </a:r>
            <a:r>
              <a:rPr lang="ko-KR" altLang="en-US" sz="1200" dirty="0" err="1"/>
              <a:t>태일씨앤티</a:t>
            </a:r>
            <a:r>
              <a:rPr lang="ko-KR" altLang="en-US" sz="1200" dirty="0"/>
              <a:t> 지원자</a:t>
            </a:r>
            <a:endParaRPr lang="en-US" altLang="ko-KR" sz="1200" dirty="0"/>
          </a:p>
          <a:p>
            <a:pPr>
              <a:spcAft>
                <a:spcPts val="300"/>
              </a:spcAft>
            </a:pPr>
            <a:endParaRPr lang="en-US" altLang="ko-KR" sz="1200" dirty="0"/>
          </a:p>
          <a:p>
            <a:pPr>
              <a:spcAft>
                <a:spcPts val="300"/>
              </a:spcAft>
            </a:pPr>
            <a:r>
              <a:rPr lang="en-US" altLang="ko-KR" sz="1400" b="1" dirty="0"/>
              <a:t>2. </a:t>
            </a:r>
            <a:r>
              <a:rPr lang="ko-KR" altLang="en-US" sz="1400" b="1" dirty="0"/>
              <a:t>디자인 가이드라인</a:t>
            </a:r>
            <a:endParaRPr lang="en-US" altLang="ko-KR" sz="1400" b="1" dirty="0"/>
          </a:p>
          <a:p>
            <a:pPr>
              <a:spcAft>
                <a:spcPts val="300"/>
              </a:spcAft>
            </a:pPr>
            <a:r>
              <a:rPr lang="en-US" altLang="ko-KR" sz="1200" dirty="0"/>
              <a:t>    a. </a:t>
            </a:r>
            <a:r>
              <a:rPr lang="ko-KR" altLang="en-US" sz="1200" dirty="0"/>
              <a:t>디자인 컨셉</a:t>
            </a:r>
            <a:r>
              <a:rPr lang="en-US" altLang="ko-KR" sz="1200" dirty="0"/>
              <a:t>: “Trust &amp; Professional”(</a:t>
            </a:r>
            <a:r>
              <a:rPr lang="ko-KR" altLang="en-US" sz="1200" dirty="0"/>
              <a:t>신뢰감</a:t>
            </a:r>
            <a:r>
              <a:rPr lang="en-US" altLang="ko-KR" sz="1200" dirty="0"/>
              <a:t>, </a:t>
            </a:r>
            <a:r>
              <a:rPr lang="ko-KR" altLang="en-US" sz="1200" dirty="0"/>
              <a:t>전문적인</a:t>
            </a:r>
            <a:r>
              <a:rPr lang="en-US" altLang="ko-KR" sz="1200" dirty="0"/>
              <a:t>)</a:t>
            </a:r>
          </a:p>
          <a:p>
            <a:pPr>
              <a:spcAft>
                <a:spcPts val="300"/>
              </a:spcAft>
            </a:pPr>
            <a:r>
              <a:rPr lang="en-US" altLang="ko-KR" sz="1200" dirty="0"/>
              <a:t>    b. </a:t>
            </a:r>
            <a:r>
              <a:rPr lang="ko-KR" altLang="en-US" sz="1200" dirty="0"/>
              <a:t>벤치마킹 사이트</a:t>
            </a:r>
            <a:endParaRPr lang="en-US" altLang="ko-KR" sz="1200" dirty="0"/>
          </a:p>
          <a:p>
            <a:pPr>
              <a:spcAft>
                <a:spcPts val="300"/>
              </a:spcAft>
            </a:pPr>
            <a:r>
              <a:rPr lang="en-US" altLang="ko-KR" sz="1200" dirty="0"/>
              <a:t>        - </a:t>
            </a:r>
            <a:r>
              <a:rPr lang="ko-KR" altLang="en-US" sz="1200" dirty="0"/>
              <a:t>대우건설</a:t>
            </a:r>
            <a:endParaRPr lang="en-US" altLang="ko-KR" sz="1200" dirty="0"/>
          </a:p>
          <a:p>
            <a:pPr>
              <a:spcAft>
                <a:spcPts val="300"/>
              </a:spcAft>
            </a:pPr>
            <a:r>
              <a:rPr lang="en-US" altLang="ko-KR" sz="1200" dirty="0"/>
              <a:t>        - POSCO</a:t>
            </a:r>
          </a:p>
          <a:p>
            <a:pPr>
              <a:spcAft>
                <a:spcPts val="300"/>
              </a:spcAft>
            </a:pPr>
            <a:r>
              <a:rPr lang="en-US" altLang="ko-KR" sz="1200" dirty="0"/>
              <a:t>    c. </a:t>
            </a:r>
            <a:r>
              <a:rPr lang="ko-KR" altLang="en-US" sz="1200" dirty="0"/>
              <a:t>대응 범위</a:t>
            </a:r>
            <a:r>
              <a:rPr lang="en-US" altLang="ko-KR" sz="1200" dirty="0"/>
              <a:t>: </a:t>
            </a:r>
            <a:r>
              <a:rPr lang="ko-KR" altLang="en-US" sz="1200" dirty="0"/>
              <a:t>반응형 웹 구현</a:t>
            </a:r>
            <a:r>
              <a:rPr lang="en-US" altLang="ko-KR" sz="1200" dirty="0"/>
              <a:t>(PC, </a:t>
            </a:r>
            <a:r>
              <a:rPr lang="ko-KR" altLang="en-US" sz="1200" dirty="0"/>
              <a:t>태블릿</a:t>
            </a:r>
            <a:r>
              <a:rPr lang="en-US" altLang="ko-KR" sz="1200" dirty="0"/>
              <a:t>, </a:t>
            </a:r>
            <a:r>
              <a:rPr lang="ko-KR" altLang="en-US" sz="1200" dirty="0"/>
              <a:t>모바일 최적화</a:t>
            </a:r>
            <a:r>
              <a:rPr lang="en-US" altLang="ko-KR" sz="1200" dirty="0"/>
              <a:t>)</a:t>
            </a:r>
          </a:p>
          <a:p>
            <a:pPr>
              <a:spcAft>
                <a:spcPts val="300"/>
              </a:spcAft>
            </a:pPr>
            <a:endParaRPr lang="en-US" altLang="ko-KR" sz="1200" dirty="0"/>
          </a:p>
          <a:p>
            <a:pPr>
              <a:spcAft>
                <a:spcPts val="300"/>
              </a:spcAft>
            </a:pPr>
            <a:r>
              <a:rPr lang="en-US" altLang="ko-KR" sz="1400" b="1" dirty="0"/>
              <a:t>3. </a:t>
            </a:r>
            <a:r>
              <a:rPr lang="ko-KR" altLang="en-US" sz="1400" b="1" dirty="0"/>
              <a:t>평가 항목</a:t>
            </a:r>
            <a:endParaRPr lang="en-US" altLang="ko-KR" sz="1400" b="1" dirty="0"/>
          </a:p>
          <a:p>
            <a:pPr algn="dist">
              <a:spcAft>
                <a:spcPts val="300"/>
              </a:spcAft>
            </a:pPr>
            <a:r>
              <a:rPr lang="en-US" altLang="ko-KR" sz="1200" dirty="0"/>
              <a:t>    - AI </a:t>
            </a:r>
            <a:r>
              <a:rPr lang="ko-KR" altLang="en-US" sz="1200" dirty="0"/>
              <a:t>활용 </a:t>
            </a:r>
            <a:r>
              <a:rPr lang="ko-KR" altLang="en-US" sz="1200" dirty="0" err="1"/>
              <a:t>혁신성</a:t>
            </a:r>
            <a:r>
              <a:rPr lang="ko-KR" altLang="en-US" sz="1200" dirty="0"/>
              <a:t> </a:t>
            </a:r>
            <a:r>
              <a:rPr lang="en-US" altLang="ko-KR" sz="1200" dirty="0"/>
              <a:t>· · · · · · · · · · · · · · · · ·  20%</a:t>
            </a:r>
          </a:p>
          <a:p>
            <a:pPr algn="dist">
              <a:spcAft>
                <a:spcPts val="300"/>
              </a:spcAft>
            </a:pPr>
            <a:r>
              <a:rPr lang="en-US" altLang="ko-KR" sz="1200" dirty="0"/>
              <a:t>    - UI/UX </a:t>
            </a:r>
            <a:r>
              <a:rPr lang="ko-KR" altLang="en-US" sz="1200" dirty="0"/>
              <a:t>완성도</a:t>
            </a:r>
            <a:r>
              <a:rPr lang="en-US" altLang="ko-KR" sz="1200" dirty="0"/>
              <a:t> · · · · · · · · · · · · · · · · · ·  30%</a:t>
            </a:r>
          </a:p>
          <a:p>
            <a:pPr algn="dist">
              <a:spcAft>
                <a:spcPts val="300"/>
              </a:spcAft>
            </a:pPr>
            <a:r>
              <a:rPr lang="en-US" altLang="ko-KR" sz="1200" dirty="0"/>
              <a:t>    - </a:t>
            </a:r>
            <a:r>
              <a:rPr lang="ko-KR" altLang="en-US" sz="1200" dirty="0"/>
              <a:t>기술 안전성 </a:t>
            </a:r>
            <a:r>
              <a:rPr lang="en-US" altLang="ko-KR" sz="1200" dirty="0"/>
              <a:t>· · · · · · · · · · · · · · · · · · ·  20%</a:t>
            </a:r>
          </a:p>
          <a:p>
            <a:pPr algn="dist">
              <a:spcAft>
                <a:spcPts val="300"/>
              </a:spcAft>
            </a:pPr>
            <a:r>
              <a:rPr lang="en-US" altLang="ko-KR" sz="1200" dirty="0"/>
              <a:t>    - </a:t>
            </a:r>
            <a:r>
              <a:rPr lang="ko-KR" altLang="en-US" sz="1200" dirty="0"/>
              <a:t>회사 가치 기여 수준</a:t>
            </a:r>
            <a:r>
              <a:rPr lang="en-US" altLang="ko-KR" sz="1200" dirty="0"/>
              <a:t> · · · · · · · · · · · · ·  30%</a:t>
            </a:r>
          </a:p>
          <a:p>
            <a:pPr algn="dist">
              <a:spcAft>
                <a:spcPts val="300"/>
              </a:spcAft>
            </a:pPr>
            <a:endParaRPr lang="en-US" altLang="ko-KR" sz="1200" dirty="0"/>
          </a:p>
          <a:p>
            <a:pPr>
              <a:spcAft>
                <a:spcPts val="300"/>
              </a:spcAft>
            </a:pPr>
            <a:r>
              <a:rPr lang="en-US" altLang="ko-KR" sz="1400" b="1" dirty="0"/>
              <a:t>4. </a:t>
            </a:r>
            <a:r>
              <a:rPr lang="ko-KR" altLang="en-US" sz="1400" b="1" dirty="0"/>
              <a:t>담당자</a:t>
            </a:r>
            <a:endParaRPr lang="en-US" altLang="ko-KR" sz="1400" b="1" dirty="0"/>
          </a:p>
          <a:p>
            <a:pPr algn="dist">
              <a:spcAft>
                <a:spcPts val="300"/>
              </a:spcAft>
            </a:pPr>
            <a:r>
              <a:rPr lang="en-US" altLang="ko-KR" sz="1200" dirty="0"/>
              <a:t>    </a:t>
            </a:r>
            <a:r>
              <a:rPr lang="ko-KR" altLang="en-US" sz="1200" dirty="0" err="1"/>
              <a:t>태일씨앤티</a:t>
            </a:r>
            <a:r>
              <a:rPr lang="ko-KR" altLang="en-US" sz="1200" dirty="0"/>
              <a:t> </a:t>
            </a:r>
            <a:r>
              <a:rPr lang="en-US" altLang="ko-KR" sz="1200" dirty="0"/>
              <a:t>| </a:t>
            </a:r>
            <a:r>
              <a:rPr lang="ko-KR" altLang="en-US" sz="1200" dirty="0" err="1"/>
              <a:t>전산팀</a:t>
            </a:r>
            <a:r>
              <a:rPr lang="ko-KR" altLang="en-US" sz="1200" dirty="0"/>
              <a:t> </a:t>
            </a:r>
            <a:r>
              <a:rPr lang="en-US" altLang="ko-KR" sz="1200" dirty="0"/>
              <a:t>| </a:t>
            </a:r>
            <a:r>
              <a:rPr lang="ko-KR" altLang="en-US" sz="1200" dirty="0" err="1"/>
              <a:t>박재선</a:t>
            </a:r>
            <a:endParaRPr lang="en-US" altLang="ko-KR" sz="1200" dirty="0"/>
          </a:p>
          <a:p>
            <a:pPr algn="dist">
              <a:spcAft>
                <a:spcPts val="300"/>
              </a:spcAft>
            </a:pPr>
            <a:r>
              <a:rPr lang="en-US" altLang="ko-KR" sz="1200" dirty="0"/>
              <a:t>    E-mail: park@taeilcnt.co.kr</a:t>
            </a:r>
          </a:p>
          <a:p>
            <a:pPr algn="dist">
              <a:spcAft>
                <a:spcPts val="300"/>
              </a:spcAft>
            </a:pPr>
            <a:r>
              <a:rPr lang="en-US" altLang="ko-KR" sz="1200" dirty="0"/>
              <a:t>    </a:t>
            </a:r>
            <a:r>
              <a:rPr lang="ko-KR" altLang="en-US" sz="1200" dirty="0" err="1"/>
              <a:t>카톡문의</a:t>
            </a:r>
            <a:r>
              <a:rPr lang="en-US" altLang="ko-KR" sz="1200" dirty="0"/>
              <a:t>: https://open.kakao.com/o/s1YrG7mi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9E4625-319D-8D73-8A9F-A4E632CB7045}"/>
              </a:ext>
            </a:extLst>
          </p:cNvPr>
          <p:cNvSpPr txBox="1"/>
          <p:nvPr/>
        </p:nvSpPr>
        <p:spPr>
          <a:xfrm>
            <a:off x="5067466" y="2812724"/>
            <a:ext cx="7569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US" altLang="ko-KR" sz="1400" b="1" dirty="0"/>
              <a:t>6. </a:t>
            </a:r>
            <a:r>
              <a:rPr lang="ko-KR" altLang="en-US" sz="1400" b="1" dirty="0"/>
              <a:t>스택</a:t>
            </a:r>
            <a:endParaRPr lang="en-US" altLang="ko-KR" sz="1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9F6F5A-8D03-952D-6B51-FC3377280077}"/>
              </a:ext>
            </a:extLst>
          </p:cNvPr>
          <p:cNvSpPr txBox="1"/>
          <p:nvPr/>
        </p:nvSpPr>
        <p:spPr>
          <a:xfrm>
            <a:off x="5067466" y="977970"/>
            <a:ext cx="11785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US" altLang="ko-KR" sz="1400" b="1" dirty="0"/>
              <a:t>5. </a:t>
            </a:r>
            <a:r>
              <a:rPr lang="ko-KR" altLang="en-US" sz="1400" b="1" dirty="0"/>
              <a:t>시상 계획</a:t>
            </a:r>
            <a:endParaRPr lang="en-US" altLang="ko-KR" sz="1200" dirty="0"/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0103DBA4-D467-D47E-B996-F5A454D3B5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47044"/>
              </p:ext>
            </p:extLst>
          </p:nvPr>
        </p:nvGraphicFramePr>
        <p:xfrm>
          <a:off x="5411036" y="1285747"/>
          <a:ext cx="5158353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1277">
                  <a:extLst>
                    <a:ext uri="{9D8B030D-6E8A-4147-A177-3AD203B41FA5}">
                      <a16:colId xmlns:a16="http://schemas.microsoft.com/office/drawing/2014/main" val="2265776370"/>
                    </a:ext>
                  </a:extLst>
                </a:gridCol>
                <a:gridCol w="1354870">
                  <a:extLst>
                    <a:ext uri="{9D8B030D-6E8A-4147-A177-3AD203B41FA5}">
                      <a16:colId xmlns:a16="http://schemas.microsoft.com/office/drawing/2014/main" val="3492917412"/>
                    </a:ext>
                  </a:extLst>
                </a:gridCol>
                <a:gridCol w="2212206">
                  <a:extLst>
                    <a:ext uri="{9D8B030D-6E8A-4147-A177-3AD203B41FA5}">
                      <a16:colId xmlns:a16="http://schemas.microsoft.com/office/drawing/2014/main" val="3810626564"/>
                    </a:ext>
                  </a:extLst>
                </a:gridCol>
              </a:tblGrid>
              <a:tr h="27385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시상 구분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상금</a:t>
                      </a: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원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비고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0136190"/>
                  </a:ext>
                </a:extLst>
              </a:tr>
              <a:tr h="27385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최우수상 </a:t>
                      </a:r>
                      <a:r>
                        <a:rPr lang="en-US" altLang="ko-KR" sz="1400" dirty="0"/>
                        <a:t>(1</a:t>
                      </a:r>
                      <a:r>
                        <a:rPr lang="ko-KR" altLang="en-US" sz="1400" dirty="0"/>
                        <a:t>팀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1,500,000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공식 홈페이지 채택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1205731"/>
                  </a:ext>
                </a:extLst>
              </a:tr>
              <a:tr h="27385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우수상 </a:t>
                      </a:r>
                      <a:r>
                        <a:rPr lang="en-US" altLang="ko-KR" sz="1400" dirty="0"/>
                        <a:t>(1</a:t>
                      </a:r>
                      <a:r>
                        <a:rPr lang="ko-KR" altLang="en-US" sz="1400" dirty="0"/>
                        <a:t>팀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500,000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상장 및 부상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0935118"/>
                  </a:ext>
                </a:extLst>
              </a:tr>
              <a:tr h="27385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장려상 </a:t>
                      </a:r>
                      <a:r>
                        <a:rPr lang="en-US" altLang="ko-KR" sz="1400" dirty="0"/>
                        <a:t>(2</a:t>
                      </a:r>
                      <a:r>
                        <a:rPr lang="ko-KR" altLang="en-US" sz="1400" dirty="0"/>
                        <a:t>팀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각 </a:t>
                      </a:r>
                      <a:r>
                        <a:rPr lang="en-US" altLang="ko-KR" sz="1400" dirty="0"/>
                        <a:t>200,000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상장 및 부상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966282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D9CEF644-510F-4EDF-550E-CB7D4F87EE18}"/>
              </a:ext>
            </a:extLst>
          </p:cNvPr>
          <p:cNvSpPr txBox="1"/>
          <p:nvPr/>
        </p:nvSpPr>
        <p:spPr>
          <a:xfrm>
            <a:off x="5100207" y="4935367"/>
            <a:ext cx="6187912" cy="14234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US" altLang="ko-KR" sz="1400" b="1" dirty="0"/>
              <a:t>7. </a:t>
            </a:r>
            <a:r>
              <a:rPr lang="ko-KR" altLang="en-US" sz="1400" b="1" dirty="0"/>
              <a:t>개발 요구 사항</a:t>
            </a:r>
            <a:endParaRPr lang="en-US" altLang="ko-KR" sz="1400" b="1" dirty="0"/>
          </a:p>
          <a:p>
            <a:pPr>
              <a:spcAft>
                <a:spcPts val="300"/>
              </a:spcAft>
            </a:pPr>
            <a:r>
              <a:rPr lang="en-US" altLang="ko-KR" sz="1200" dirty="0"/>
              <a:t>    1. </a:t>
            </a:r>
            <a:r>
              <a:rPr lang="ko-KR" altLang="en-US" sz="1200" b="1" dirty="0"/>
              <a:t>영상과 이미지는 </a:t>
            </a:r>
            <a:r>
              <a:rPr lang="en-US" altLang="ko-KR" sz="1200" b="1" dirty="0" err="1"/>
              <a:t>WebM</a:t>
            </a:r>
            <a:r>
              <a:rPr lang="en-US" altLang="ko-KR" sz="1200" b="1" dirty="0"/>
              <a:t>/</a:t>
            </a:r>
            <a:r>
              <a:rPr lang="en-US" altLang="ko-KR" sz="1200" b="1" dirty="0" err="1"/>
              <a:t>WebP</a:t>
            </a:r>
            <a:r>
              <a:rPr lang="en-US" altLang="ko-KR" sz="1200" b="1" dirty="0"/>
              <a:t> </a:t>
            </a:r>
            <a:r>
              <a:rPr lang="ko-KR" altLang="en-US" sz="1200" b="1" dirty="0"/>
              <a:t>등 최적화</a:t>
            </a:r>
            <a:r>
              <a:rPr lang="ko-KR" altLang="en-US" sz="1200" dirty="0"/>
              <a:t>해서 로딩 속도를 잡아주세요</a:t>
            </a:r>
            <a:r>
              <a:rPr lang="en-US" altLang="ko-KR" sz="1200" dirty="0"/>
              <a:t>.</a:t>
            </a:r>
            <a:endParaRPr lang="en-US" altLang="ko-KR" sz="1200" b="1" dirty="0"/>
          </a:p>
          <a:p>
            <a:pPr>
              <a:spcAft>
                <a:spcPts val="300"/>
              </a:spcAft>
            </a:pPr>
            <a:r>
              <a:rPr lang="en-US" altLang="ko-KR" sz="1200" dirty="0"/>
              <a:t>    2. </a:t>
            </a:r>
            <a:r>
              <a:rPr lang="ko-KR" altLang="en-US" sz="1200" dirty="0"/>
              <a:t>모바일</a:t>
            </a:r>
            <a:r>
              <a:rPr lang="en-US" altLang="ko-KR" sz="1200" dirty="0"/>
              <a:t>, </a:t>
            </a:r>
            <a:r>
              <a:rPr lang="ko-KR" altLang="en-US" sz="1200" dirty="0"/>
              <a:t>태블릿</a:t>
            </a:r>
            <a:r>
              <a:rPr lang="en-US" altLang="ko-KR" sz="1200" dirty="0"/>
              <a:t>, PC </a:t>
            </a:r>
            <a:r>
              <a:rPr lang="ko-KR" altLang="en-US" sz="1200" dirty="0"/>
              <a:t>어디서든 화면이 깨지지 않는 </a:t>
            </a:r>
            <a:r>
              <a:rPr lang="ko-KR" altLang="en-US" sz="1200" b="1" dirty="0"/>
              <a:t>반응형 웹</a:t>
            </a:r>
            <a:r>
              <a:rPr lang="ko-KR" altLang="en-US" sz="1200" dirty="0"/>
              <a:t>으로 구현해주세요</a:t>
            </a:r>
            <a:r>
              <a:rPr lang="en-US" altLang="ko-KR" sz="1200" dirty="0"/>
              <a:t>.</a:t>
            </a:r>
          </a:p>
          <a:p>
            <a:pPr>
              <a:spcAft>
                <a:spcPts val="300"/>
              </a:spcAft>
            </a:pPr>
            <a:r>
              <a:rPr lang="en-US" altLang="ko-KR" sz="1200" dirty="0"/>
              <a:t>    3. </a:t>
            </a:r>
            <a:r>
              <a:rPr lang="ko-KR" altLang="en-US" sz="1200" b="1" dirty="0"/>
              <a:t>서버 사이드 로직이 없는 정적 웹사이트 구조로 설계</a:t>
            </a:r>
            <a:r>
              <a:rPr lang="en-US" altLang="ko-KR" sz="1200" b="1" dirty="0"/>
              <a:t>.</a:t>
            </a:r>
          </a:p>
          <a:p>
            <a:pPr>
              <a:spcAft>
                <a:spcPts val="300"/>
              </a:spcAft>
            </a:pPr>
            <a:r>
              <a:rPr lang="en-US" altLang="ko-KR" sz="1200" dirty="0"/>
              <a:t>    4. </a:t>
            </a:r>
            <a:r>
              <a:rPr lang="ko-KR" altLang="en-US" sz="1200" dirty="0"/>
              <a:t>경로는 절대 경로 대신 </a:t>
            </a:r>
            <a:r>
              <a:rPr lang="ko-KR" altLang="en-US" sz="1200" b="1" dirty="0"/>
              <a:t>상대 경로</a:t>
            </a:r>
            <a:r>
              <a:rPr lang="ko-KR" altLang="en-US" sz="1200" dirty="0"/>
              <a:t>로 권장</a:t>
            </a:r>
            <a:r>
              <a:rPr lang="en-US" altLang="ko-KR" sz="1200" dirty="0"/>
              <a:t>, </a:t>
            </a:r>
            <a:r>
              <a:rPr lang="ko-KR" altLang="en-US" sz="1200" b="1" dirty="0"/>
              <a:t>모든 리소스는 폴더 내 포함</a:t>
            </a:r>
            <a:endParaRPr lang="en-US" altLang="ko-KR" sz="1200" b="1" dirty="0"/>
          </a:p>
          <a:p>
            <a:pPr>
              <a:spcAft>
                <a:spcPts val="300"/>
              </a:spcAft>
            </a:pPr>
            <a:r>
              <a:rPr lang="en-US" altLang="ko-KR" sz="1200" dirty="0"/>
              <a:t>    5. </a:t>
            </a:r>
            <a:r>
              <a:rPr lang="ko-KR" altLang="en-US" sz="1200" dirty="0"/>
              <a:t>최종 제출물</a:t>
            </a:r>
            <a:r>
              <a:rPr lang="en-US" altLang="ko-KR" sz="1200" dirty="0"/>
              <a:t>: </a:t>
            </a:r>
            <a:r>
              <a:rPr lang="ko-KR" altLang="en-US" sz="1200" b="1" dirty="0"/>
              <a:t>빌드 결과물</a:t>
            </a:r>
            <a:r>
              <a:rPr lang="en-US" altLang="ko-KR" sz="1200" b="1" dirty="0"/>
              <a:t>, </a:t>
            </a:r>
            <a:r>
              <a:rPr lang="ko-KR" altLang="en-US" sz="1200" b="1" dirty="0"/>
              <a:t>소스 코드 전체</a:t>
            </a:r>
            <a:r>
              <a:rPr lang="en-US" altLang="ko-KR" sz="1200" b="1" dirty="0"/>
              <a:t>, </a:t>
            </a:r>
            <a:r>
              <a:rPr lang="ko-KR" altLang="en-US" sz="1200" b="1" dirty="0"/>
              <a:t>기술서</a:t>
            </a:r>
            <a:endParaRPr lang="en-US" altLang="ko-KR" sz="1200" b="1" dirty="0"/>
          </a:p>
        </p:txBody>
      </p:sp>
    </p:spTree>
    <p:extLst>
      <p:ext uri="{BB962C8B-B14F-4D97-AF65-F5344CB8AC3E}">
        <p14:creationId xmlns:p14="http://schemas.microsoft.com/office/powerpoint/2010/main" val="26469059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8E07D5B5-27C2-7872-A3C3-6B17CA09B6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2375" y="1095375"/>
            <a:ext cx="4667250" cy="466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6507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1091</TotalTime>
  <Words>426</Words>
  <Application>Microsoft Office PowerPoint</Application>
  <PresentationFormat>와이드스크린</PresentationFormat>
  <Paragraphs>88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 AI 활용 홈페이지 리뉴얼 경진대회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80</cp:revision>
  <cp:lastPrinted>2026-03-19T07:48:26Z</cp:lastPrinted>
  <dcterms:created xsi:type="dcterms:W3CDTF">2026-03-05T00:28:16Z</dcterms:created>
  <dcterms:modified xsi:type="dcterms:W3CDTF">2026-04-13T03:42:40Z</dcterms:modified>
</cp:coreProperties>
</file>